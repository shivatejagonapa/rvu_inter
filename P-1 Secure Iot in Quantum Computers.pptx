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68" autoAdjust="0"/>
    <p:restoredTop sz="94660"/>
  </p:normalViewPr>
  <p:slideViewPr>
    <p:cSldViewPr snapToGrid="0">
      <p:cViewPr>
        <p:scale>
          <a:sx n="87" d="100"/>
          <a:sy n="87" d="100"/>
        </p:scale>
        <p:origin x="1504" y="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959B6-5563-4D6C-BDCA-C6DB42E61E2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B91C09-6557-4473-A0D4-5AF906BE6A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544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4C07D-71DF-3A01-2AAA-04352712A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CE5E71-D35C-7223-F579-E832395E3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1D085-6F88-0069-FE8D-5B6AD6738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7C67-B964-4F2F-B7C5-B60C74DD31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5D7E3-10CA-5C7A-9813-109D844B0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612F5-4BF9-BF63-688D-EA9D4557E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56A4-EAAF-44CA-8F35-9A70E1CCF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78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A27DD-2173-6D7E-E0AA-CAF0C34B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812E9-CFA3-A2FA-BCB1-695C845DC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27453-ACD1-92EB-E2BD-10B8BE1A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7C67-B964-4F2F-B7C5-B60C74DD31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AFB70-755A-0D03-316C-6EE9300F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53F2D-085B-9682-3F4E-5DC85E1E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56A4-EAAF-44CA-8F35-9A70E1CCF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432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9F543-F04C-C8A3-623D-99E3F32D1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67E9F-9115-C7A5-2F4C-ECCCEBE05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B1E4A-400D-D64E-DEE1-5B552154D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7C67-B964-4F2F-B7C5-B60C74DD31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1336F-D219-ABA2-AE3E-936FE546F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37AB4-CC60-77B8-4BB1-4942B0D0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56A4-EAAF-44CA-8F35-9A70E1CCF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881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4DFB5-B14C-8E27-7BEF-1AE241E5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0D127-CA30-5F9E-A640-89D292E99B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CEC71-2837-259A-354E-0EB68F0D5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27054-116C-F6A9-E473-873F831E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7C67-B964-4F2F-B7C5-B60C74DD31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96940-53CF-401D-12FF-9FC917B44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E60F9-A585-277D-6BF4-3C6D2226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56A4-EAAF-44CA-8F35-9A70E1CCF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77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80D1-7287-CE79-510F-F2757F97A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3FB29-4015-0E64-BCAA-25EEADFF0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3FA84-E2E9-E7B3-78D3-0FADE869C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250BFB-0504-6273-E943-2E7F4D865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58C273-8A7F-2656-39AB-EA07F0C3F0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85EF42-2A9F-D4AB-236F-0E5D48B98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7C67-B964-4F2F-B7C5-B60C74DD31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BDA53-A882-C650-0970-1512018F3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DCEAD-9E92-0D3E-56F0-322CB3D2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56A4-EAAF-44CA-8F35-9A70E1CCF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94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F856-7E39-9CC8-840C-C92D909F7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604EB-36F3-10A4-ED03-DB923EE36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7C67-B964-4F2F-B7C5-B60C74DD31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713291-1020-A02A-9677-297948024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71DE1-8018-6C3E-D6DE-FB341099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56A4-EAAF-44CA-8F35-9A70E1CCF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50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9BF349-C6D1-E56C-55F6-AD3FAF803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7C67-B964-4F2F-B7C5-B60C74DD31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68C690-DAED-2583-5A0E-1E8452F5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0CD34-5DCE-9E79-CAAF-67372FF3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56A4-EAAF-44CA-8F35-9A70E1CCF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703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71544-B77D-8D1E-67E3-D3345269F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5D858-4C4F-644A-721D-E3EBE339F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9D583-6003-537A-C089-BA7C035B2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72030-F185-4246-222B-49E90192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7C67-B964-4F2F-B7C5-B60C74DD31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271E2-F14E-AB40-3E94-E1E2D2805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204BB-94B1-EE4D-32E9-2DDC83737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56A4-EAAF-44CA-8F35-9A70E1CCF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365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6ECC1-F563-69B9-4421-0C2AB127D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1D6A4F-8F43-C43E-FFBC-9AAA14E54A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6FA65A-C4B3-5C56-C0C3-0FABE29C8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43031-8CF7-7A47-4883-C844F8582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7C67-B964-4F2F-B7C5-B60C74DD31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F4839-A00A-D8D9-B4CD-1733ED867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03F28-33BA-A33C-9866-EEC4388E6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56A4-EAAF-44CA-8F35-9A70E1CCF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341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1D0C3-7E24-03BB-AE03-999A602B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D6A5-B66E-C5A3-E13C-05CEBFC47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B7A6A-B47C-6883-2B6B-DF03C4BDF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7C67-B964-4F2F-B7C5-B60C74DD31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CDC1B-6ED2-3F7A-EDFC-2837DFE3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F19FA-1753-53EA-1D33-BF8E5AD3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56A4-EAAF-44CA-8F35-9A70E1CCF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70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F8E52A-D45E-5BA8-8C94-736EF4056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8EE90-EF8C-FEC8-DA52-448120C0B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C9390-2921-99E4-6DC3-B1F976968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7C67-B964-4F2F-B7C5-B60C74DD31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87A3C-5B14-2215-FA08-A94AD904D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1BE6A-B46A-51E4-3D66-15677C563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56A4-EAAF-44CA-8F35-9A70E1CCF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10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7C3827-F227-FA09-2F1F-74925D7F6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A7E75-EFF7-69C8-6B3F-BF79AC642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6616F-9760-2DF0-E9A4-8512CE0EA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77C67-B964-4F2F-B7C5-B60C74DD31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07C2F-AC59-5E8C-9D32-C43CFB5D2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3F221-C220-2ADC-8082-78D52D999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2E56A4-EAAF-44CA-8F35-9A70E1CCF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84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mbarcados.com.br/protegendo-produtos-iot-de-ameacas-unica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3.wannaphong.com/2017/11/quantum-computing-python.html?m=1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3C2A5B-18C4-627F-7C3C-3731F9E23E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reflection stA="0" endPos="0" dist="508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79A49A-39F2-725B-6B8F-6F7F955401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9199" y="1262271"/>
            <a:ext cx="995238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Secure IoT in the </a:t>
            </a:r>
          </a:p>
          <a:p>
            <a:r>
              <a:rPr lang="en-IN" sz="4000" b="1" dirty="0"/>
              <a:t>Era of Quantum Computers</a:t>
            </a:r>
          </a:p>
          <a:p>
            <a:r>
              <a:rPr lang="en-IN" b="1" dirty="0"/>
              <a:t>An In-Depth Performance Analysis of Post-Quantum </a:t>
            </a:r>
          </a:p>
          <a:p>
            <a:r>
              <a:rPr lang="en-IN" b="1" dirty="0"/>
              <a:t>Cryptography (PQC) in Low-Power IoT</a:t>
            </a:r>
          </a:p>
          <a:p>
            <a:endParaRPr lang="en-IN" sz="3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571E32-CDAD-9875-9B11-C7B6CF5D8345}"/>
              </a:ext>
            </a:extLst>
          </p:cNvPr>
          <p:cNvSpPr txBox="1">
            <a:spLocks/>
          </p:cNvSpPr>
          <p:nvPr/>
        </p:nvSpPr>
        <p:spPr>
          <a:xfrm>
            <a:off x="1219199" y="4578626"/>
            <a:ext cx="45388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Citation:</a:t>
            </a:r>
            <a:r>
              <a:rPr lang="en-IN" sz="1600" dirty="0"/>
              <a:t> Schöffel, M., Lauer, F., Rheinländer, C.C., &amp; Wehn, N. (Sensors 2022).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C6776D-6374-D9A4-5E48-87724C51318E}"/>
              </a:ext>
            </a:extLst>
          </p:cNvPr>
          <p:cNvSpPr txBox="1">
            <a:spLocks/>
          </p:cNvSpPr>
          <p:nvPr/>
        </p:nvSpPr>
        <p:spPr>
          <a:xfrm>
            <a:off x="8679909" y="5666921"/>
            <a:ext cx="361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Gonapa Shiva Teja</a:t>
            </a:r>
          </a:p>
          <a:p>
            <a:r>
              <a:rPr lang="en-GB" dirty="0"/>
              <a:t>Electrical And Computer Eng</a:t>
            </a:r>
          </a:p>
          <a:p>
            <a:r>
              <a:rPr lang="en-GB" dirty="0"/>
              <a:t>Shiv Nadar University Delhi NCR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0832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4E66FEF-8C19-8ADB-6AA8-B00F58E1D6C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0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5CA3C9-957B-1D2C-C07B-C228C756633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70509" y="-82143"/>
            <a:ext cx="9809684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Problem Statement &amp; System Challenges</a:t>
            </a:r>
          </a:p>
          <a:p>
            <a:endParaRPr lang="en-IN" b="1" dirty="0"/>
          </a:p>
          <a:p>
            <a:r>
              <a:rPr lang="en-IN" b="1" dirty="0"/>
              <a:t>The Cryptographic Crisis: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   Shor’s Algorithm breaks standard RSA and ECC (NIST P-256) in polynomial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   Solves prime factorization and discrete logarithms instantly on quantum hardware.</a:t>
            </a:r>
          </a:p>
          <a:p>
            <a:endParaRPr lang="en-IN" dirty="0"/>
          </a:p>
          <a:p>
            <a:r>
              <a:rPr lang="en-IN" b="1" dirty="0"/>
              <a:t>The "Store Now, Decrypt Later" Threat: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    Adversaries passively harvest encrypted Industrial IoT (IIoT) traffic today.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   </a:t>
            </a:r>
            <a:r>
              <a:rPr lang="en-IN" b="1" dirty="0"/>
              <a:t>Target:</a:t>
            </a:r>
            <a:r>
              <a:rPr lang="en-IN" dirty="0"/>
              <a:t> Decrypt sensitive long-lifecycle telemetry data in the 2030s.</a:t>
            </a:r>
          </a:p>
          <a:p>
            <a:endParaRPr lang="en-IN" dirty="0"/>
          </a:p>
          <a:p>
            <a:r>
              <a:rPr lang="en-IN" b="1" dirty="0"/>
              <a:t>The Resource Ceiling: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    Post-Quantum Cryptography (PQC) shifts to complex math </a:t>
            </a:r>
          </a:p>
          <a:p>
            <a:r>
              <a:rPr lang="en-IN" dirty="0"/>
              <a:t>             (e.g. Lattice geometry).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   Drastically expands public key, ciphertext, and digital signature sizes.</a:t>
            </a:r>
          </a:p>
          <a:p>
            <a:endParaRPr lang="en-IN" dirty="0"/>
          </a:p>
          <a:p>
            <a:r>
              <a:rPr lang="en-IN" b="1" dirty="0"/>
              <a:t>The Key-Size Explosion (Core Dilemma):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    Legacy ECC (NIST P-256): </a:t>
            </a:r>
            <a:r>
              <a:rPr lang="en-IN" b="1" dirty="0"/>
              <a:t>Only 32 Bytes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   Post-Quantum (Lattice-Based): </a:t>
            </a:r>
            <a:r>
              <a:rPr lang="en-IN" b="1" dirty="0"/>
              <a:t>Thousands of Bytes (1KB to 10kb+).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r>
              <a:rPr lang="en-IN" b="1" dirty="0"/>
              <a:t>Central Research Question: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Can resource-constrained microcontrollers handle a full operational network protocol stack under this massive data overhead, or are custom hardware accelerators mandatory?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524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2CBF87-A68D-EE01-49A8-1818976DC6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0"/>
            <a:ext cx="12192000" cy="68530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03B01B-B77D-9316-7BE2-E61BA31AC88C}"/>
              </a:ext>
            </a:extLst>
          </p:cNvPr>
          <p:cNvSpPr txBox="1"/>
          <p:nvPr/>
        </p:nvSpPr>
        <p:spPr>
          <a:xfrm>
            <a:off x="511215" y="474345"/>
            <a:ext cx="1116956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Experimental Setup &amp; Evaluation Testbed</a:t>
            </a:r>
          </a:p>
          <a:p>
            <a:endParaRPr lang="en-IN" b="1" dirty="0"/>
          </a:p>
          <a:p>
            <a:r>
              <a:rPr lang="en-IN" b="1" dirty="0"/>
              <a:t>Edge Node Hardware Configuration: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Client: Nordic Semiconductor </a:t>
            </a:r>
            <a:r>
              <a:rPr lang="en-IN" b="1" dirty="0"/>
              <a:t>nRF52840 SoC</a:t>
            </a:r>
            <a:r>
              <a:rPr lang="en-IN" dirty="0"/>
              <a:t> containing a 32-bit </a:t>
            </a:r>
            <a:r>
              <a:rPr lang="en-IN" b="1" dirty="0"/>
              <a:t>ARM Cortex-M4 MCU</a:t>
            </a:r>
            <a:r>
              <a:rPr lang="en-IN" dirty="0"/>
              <a:t> running @ 64MHz.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Memory footprint constraint: </a:t>
            </a:r>
            <a:r>
              <a:rPr lang="en-IN" b="1" dirty="0"/>
              <a:t>256 KB RAM</a:t>
            </a:r>
            <a:r>
              <a:rPr lang="en-IN" dirty="0"/>
              <a:t> and </a:t>
            </a:r>
            <a:r>
              <a:rPr lang="en-IN" b="1" dirty="0"/>
              <a:t>1 MB Flash ROM</a:t>
            </a:r>
            <a:r>
              <a:rPr lang="en-IN" dirty="0"/>
              <a:t> </a:t>
            </a:r>
            <a:r>
              <a:rPr lang="en-IN" i="1" dirty="0"/>
              <a:t>(The official NIST reference platform)</a:t>
            </a:r>
            <a:r>
              <a:rPr lang="en-IN" dirty="0"/>
              <a:t>.</a:t>
            </a:r>
          </a:p>
          <a:p>
            <a:r>
              <a:rPr lang="en-IN" b="1" dirty="0"/>
              <a:t>Server Infrastructure: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High-performance Linux Server running an optimized, quantum-safe library environment (</a:t>
            </a:r>
            <a:r>
              <a:rPr lang="en-IN" b="1" dirty="0"/>
              <a:t>OQS-OpenSSL</a:t>
            </a:r>
            <a:r>
              <a:rPr lang="en-IN" dirty="0"/>
              <a:t>).</a:t>
            </a:r>
          </a:p>
          <a:p>
            <a:r>
              <a:rPr lang="en-IN" b="1" dirty="0"/>
              <a:t>Full Production-Grade IoT Protocol Stack: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MQTT (12-Byte Payload) ➔ TLS 1.2 (Cryptographic Handshake) ➔ TCP ➔ 6LoWPAN (Adaptation Layer) ➔ BLE (Physical Link Layer)</a:t>
            </a:r>
          </a:p>
          <a:p>
            <a:r>
              <a:rPr lang="en-IN" b="1" dirty="0"/>
              <a:t>Software Implementation Framework: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Integrated speed-optimized assembly language primitives from the </a:t>
            </a:r>
            <a:r>
              <a:rPr lang="en-IN" b="1" dirty="0"/>
              <a:t>pqm4 library</a:t>
            </a:r>
            <a:r>
              <a:rPr lang="en-IN" dirty="0"/>
              <a:t> into the lightweight </a:t>
            </a:r>
            <a:r>
              <a:rPr lang="en-IN" b="1" dirty="0"/>
              <a:t>mbedTLS</a:t>
            </a:r>
            <a:r>
              <a:rPr lang="en-IN" dirty="0"/>
              <a:t> architecture.</a:t>
            </a:r>
          </a:p>
          <a:p>
            <a:r>
              <a:rPr lang="en-IN" b="1" dirty="0"/>
              <a:t>High-Precision Physical Profiling: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Multi-channel energy and timing tracking executed dynamically via a </a:t>
            </a:r>
            <a:r>
              <a:rPr lang="en-IN" b="1" dirty="0"/>
              <a:t>Nordic Power Profiler Kit 2 (PPK2)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Calibration and validation conducted with an ultra-high-resolution </a:t>
            </a:r>
            <a:r>
              <a:rPr lang="en-IN" b="1" dirty="0"/>
              <a:t>Keithley DMM7510</a:t>
            </a:r>
            <a:r>
              <a:rPr lang="en-IN" dirty="0"/>
              <a:t> digital multimeter.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261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E69F8E-F128-C0ED-C3B0-58C573FD12A9}"/>
              </a:ext>
            </a:extLst>
          </p:cNvPr>
          <p:cNvPicPr>
            <a:picLocks noChangeAspect="1"/>
          </p:cNvPicPr>
          <p:nvPr>
            <p:ph idx="1"/>
          </p:nvPr>
        </p:nvPicPr>
        <p:blipFill>
          <a:blip r:embed="rId2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A971A5-A153-4CDE-7C28-B67AD3079309}"/>
              </a:ext>
            </a:extLst>
          </p:cNvPr>
          <p:cNvSpPr txBox="1"/>
          <p:nvPr/>
        </p:nvSpPr>
        <p:spPr>
          <a:xfrm>
            <a:off x="207380" y="387051"/>
            <a:ext cx="1177724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Key Findings – The True System Bottleneck</a:t>
            </a:r>
          </a:p>
          <a:p>
            <a:endParaRPr lang="en-IN" b="1" dirty="0"/>
          </a:p>
          <a:p>
            <a:r>
              <a:rPr lang="en-IN" b="1" dirty="0"/>
              <a:t>The Computational Paradigm Shift: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Myth:</a:t>
            </a:r>
            <a:r>
              <a:rPr lang="en-IN" dirty="0"/>
              <a:t> Post-Quantum Cryptography (PQC) mathematical calculations are too computationally heavy for low-power microcontrollers.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Reality:</a:t>
            </a:r>
            <a:r>
              <a:rPr lang="en-IN" dirty="0"/>
              <a:t> The 32-bit ARM Cortex-M4 CPU handles lattice-based math algorithms (like Kyber and Saber) with high efficiency. Processing math is </a:t>
            </a:r>
            <a:r>
              <a:rPr lang="en-IN" b="1" dirty="0"/>
              <a:t>NOT</a:t>
            </a:r>
            <a:r>
              <a:rPr lang="en-IN" dirty="0"/>
              <a:t> the primary system bottleneck.</a:t>
            </a:r>
          </a:p>
          <a:p>
            <a:r>
              <a:rPr lang="en-IN" b="1" dirty="0"/>
              <a:t>The Network Bandwidth Crisis: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The actual bottleneck is </a:t>
            </a:r>
            <a:r>
              <a:rPr lang="en-IN" b="1" dirty="0"/>
              <a:t>Data Volume and Packet Transmission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Large PQC public keys, ciphertexts, and digital signatures far exceed the standard Maximum Transmission Unit (MTU) size of constrained network layers.</a:t>
            </a:r>
          </a:p>
          <a:p>
            <a:r>
              <a:rPr lang="en-IN" b="1" dirty="0"/>
              <a:t>Severe Packet Fragmentation: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 single post-quantum public key cannot fit into a standard low-power radio packet.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This forces massive packet fragmentation at the </a:t>
            </a:r>
            <a:r>
              <a:rPr lang="en-IN" b="1" dirty="0"/>
              <a:t>6LoWPAN adaptation layer</a:t>
            </a:r>
            <a:r>
              <a:rPr lang="en-IN" dirty="0"/>
              <a:t> and </a:t>
            </a:r>
            <a:r>
              <a:rPr lang="en-IN" b="1" dirty="0"/>
              <a:t>Bluetooth Low Energy (BLE) link layer</a:t>
            </a:r>
            <a:r>
              <a:rPr lang="en-IN" dirty="0"/>
              <a:t>.</a:t>
            </a:r>
          </a:p>
          <a:p>
            <a:r>
              <a:rPr lang="en-IN" b="1" dirty="0"/>
              <a:t>The Radio Energy Drain (The Core Performance Cost):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To transmit dozens of small packet fragments, the physical wireless radio must stay active in high-power Tx/Rx modes for extended durations.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The Takeaway:</a:t>
            </a:r>
            <a:r>
              <a:rPr lang="en-IN" dirty="0"/>
              <a:t> Keeping the wireless radio turned on longer to transmit fragmented keys drains significantly more battery energy (mJ) than the CPU executing the cryptographic math.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9133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D40EA5-010B-E427-EFF2-0F49925084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642"/>
            <a:ext cx="12191999" cy="6872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68A594-B89D-3936-2E80-F3353AEBB41C}"/>
              </a:ext>
            </a:extLst>
          </p:cNvPr>
          <p:cNvSpPr txBox="1"/>
          <p:nvPr/>
        </p:nvSpPr>
        <p:spPr>
          <a:xfrm>
            <a:off x="360882" y="197346"/>
            <a:ext cx="11470233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Key Findings – Heterogeneous PKIs &amp; Battery Impact</a:t>
            </a:r>
          </a:p>
          <a:p>
            <a:endParaRPr lang="en-IN" b="1" dirty="0"/>
          </a:p>
          <a:p>
            <a:r>
              <a:rPr lang="en-IN" b="1" dirty="0"/>
              <a:t>The Homogeneous Benchmark Dilemma: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Implementing a single, uniform algorithm family across the entire Public Key Infrastructure (PKI) introduces severe operational penalties.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Dilithium2:</a:t>
            </a:r>
            <a:r>
              <a:rPr lang="en-IN" dirty="0"/>
              <a:t> Fast mathematical execution, but massive key/signature sizes create a </a:t>
            </a:r>
            <a:r>
              <a:rPr lang="en-IN" b="1" dirty="0"/>
              <a:t>4x network latency</a:t>
            </a:r>
            <a:r>
              <a:rPr lang="en-IN" dirty="0"/>
              <a:t> penalty during over-the-air packet transmission.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Falcon512:</a:t>
            </a:r>
            <a:r>
              <a:rPr lang="en-IN" dirty="0"/>
              <a:t> Small network bandwidth footprint, but requires a highly complex, CPU-intensive mathematical verification loop on the client side.</a:t>
            </a:r>
          </a:p>
          <a:p>
            <a:r>
              <a:rPr lang="en-IN" b="1" dirty="0"/>
              <a:t>The Solution: Heterogeneous Public Key Infrastructures: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The authors discovered that combining different algorithms based on asymmetrical architectural strengths yields maximum efficiency.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The Optimal Post-Quantum Mix:</a:t>
            </a:r>
            <a:r>
              <a:rPr lang="en-IN" dirty="0"/>
              <a:t> Deploy </a:t>
            </a:r>
            <a:r>
              <a:rPr lang="en-IN" i="1" dirty="0"/>
              <a:t>Falcon</a:t>
            </a:r>
            <a:r>
              <a:rPr lang="en-IN" dirty="0"/>
              <a:t> certificates on the server-side (minimizes over-the-air payload size) + </a:t>
            </a:r>
            <a:r>
              <a:rPr lang="en-IN" i="1" dirty="0"/>
              <a:t>Di-lithium</a:t>
            </a:r>
            <a:r>
              <a:rPr lang="en-IN" dirty="0"/>
              <a:t> signatures on the client edge node (minimizes client-side RAM and compute overhead).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Energy Reduction:</a:t>
            </a:r>
            <a:r>
              <a:rPr lang="en-IN" dirty="0"/>
              <a:t> This targeted, heterogeneous approach drops total handshake energy consumption by </a:t>
            </a:r>
            <a:r>
              <a:rPr lang="en-IN" b="1" dirty="0"/>
              <a:t>30%</a:t>
            </a:r>
            <a:r>
              <a:rPr lang="en-IN" dirty="0"/>
              <a:t> compared to a purely uniform setup.</a:t>
            </a:r>
          </a:p>
          <a:p>
            <a:r>
              <a:rPr lang="en-IN" b="1" dirty="0"/>
              <a:t>Real-World Battery Uptime Metrics: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Tested under a standard industrial IoT scenario: 3.6V, 1.2Ah Lithium Cell executing encrypted transactions.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The Verdict:</a:t>
            </a:r>
            <a:r>
              <a:rPr lang="en-IN" dirty="0"/>
              <a:t> An optimized hybrid configuration (</a:t>
            </a:r>
            <a:r>
              <a:rPr lang="en-IN" b="1" dirty="0"/>
              <a:t>Kyber512 + Falcon512</a:t>
            </a:r>
            <a:r>
              <a:rPr lang="en-IN" dirty="0"/>
              <a:t>) delivers a physical node lifespan of up to </a:t>
            </a:r>
            <a:r>
              <a:rPr lang="en-IN" b="1" dirty="0"/>
              <a:t>10 years</a:t>
            </a:r>
            <a:r>
              <a:rPr lang="en-IN" dirty="0"/>
              <a:t> while performing 200+ secure transmissions per day.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814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D7631F-5035-FD17-986C-57459AAFFF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C7149D-3FC0-E7E2-4CC1-F858D25412E3}"/>
              </a:ext>
            </a:extLst>
          </p:cNvPr>
          <p:cNvSpPr txBox="1"/>
          <p:nvPr/>
        </p:nvSpPr>
        <p:spPr>
          <a:xfrm>
            <a:off x="424282" y="197345"/>
            <a:ext cx="1139708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Limitations, Gaps, &amp; Future Scope</a:t>
            </a:r>
          </a:p>
          <a:p>
            <a:endParaRPr lang="en-IN" b="1" dirty="0"/>
          </a:p>
          <a:p>
            <a:r>
              <a:rPr lang="en-IN" b="1" dirty="0"/>
              <a:t>Memory and Library Constraints: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Speed-optimized assembly code from the open-source </a:t>
            </a:r>
            <a:r>
              <a:rPr lang="en-IN" b="1" dirty="0"/>
              <a:t>pqm4 library</a:t>
            </a:r>
            <a:r>
              <a:rPr lang="en-IN" dirty="0"/>
              <a:t> required massive static RAM allocations.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This exceeded the 256 KB memory ceiling of the Cortex-M4, forcing a fallback to slower standard NIST reference code for Digital Signatures.</a:t>
            </a:r>
          </a:p>
          <a:p>
            <a:r>
              <a:rPr lang="en-IN" b="1" dirty="0"/>
              <a:t>Network Protocol Framework Limitations: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Benchmarks were evaluated strictly using </a:t>
            </a:r>
            <a:r>
              <a:rPr lang="en-IN" b="1" dirty="0"/>
              <a:t>TLS 1.2</a:t>
            </a:r>
            <a:r>
              <a:rPr lang="en-IN" dirty="0"/>
              <a:t> because stable, embedded TLS 1.3 libraries (mbedTLS) were unavailable during the study.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The Omission:</a:t>
            </a:r>
            <a:r>
              <a:rPr lang="en-IN" dirty="0"/>
              <a:t> TLS 1.3 eliminates network round-trips during handshakes, which remains an unmeasured variable.</a:t>
            </a:r>
          </a:p>
          <a:p>
            <a:r>
              <a:rPr lang="en-IN" b="1" dirty="0"/>
              <a:t>Algorithmic Exclusions: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Ultra-large PQC candidates (such as Classic </a:t>
            </a:r>
            <a:r>
              <a:rPr lang="en-IN" dirty="0" err="1"/>
              <a:t>McEliece</a:t>
            </a:r>
            <a:r>
              <a:rPr lang="en-IN" dirty="0"/>
              <a:t>, with public keys exceeding hundreds of Kilobytes) were completely excluded as they cannot physically fit into IoT microcontroller RAM.</a:t>
            </a:r>
          </a:p>
          <a:p>
            <a:r>
              <a:rPr lang="en-IN" b="1" dirty="0"/>
              <a:t>Strategic Future Scope (Your Internship Runway):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Protocol Upgrades:</a:t>
            </a:r>
            <a:r>
              <a:rPr lang="en-IN" dirty="0"/>
              <a:t> Porting the experimental benchmarking stack onto an updated </a:t>
            </a:r>
            <a:r>
              <a:rPr lang="en-IN" b="1" dirty="0"/>
              <a:t>TLS 1.3</a:t>
            </a:r>
            <a:r>
              <a:rPr lang="en-IN" dirty="0"/>
              <a:t> environment.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Memory Optimization:</a:t>
            </a:r>
            <a:r>
              <a:rPr lang="en-IN" dirty="0"/>
              <a:t> Engineering low-RAM, memory-pruned assembly primitives for Falcon and Dilithium to eliminate static buffer bloat.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Network Compression:</a:t>
            </a:r>
            <a:r>
              <a:rPr lang="en-IN" dirty="0"/>
              <a:t> Evaluating 6LoWPAN header or packet compression mechanisms to systematically reduce physical wireless radio uptime.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4754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F90A28-6571-12A8-EE0F-134D327069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99737F-7837-DFB6-95AC-390219F86B83}"/>
              </a:ext>
            </a:extLst>
          </p:cNvPr>
          <p:cNvSpPr txBox="1"/>
          <p:nvPr/>
        </p:nvSpPr>
        <p:spPr>
          <a:xfrm>
            <a:off x="30480" y="0"/>
            <a:ext cx="12131039" cy="7271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Technical Nomenclature &amp; Architectural Glossary</a:t>
            </a:r>
          </a:p>
          <a:p>
            <a:endParaRPr lang="en-IN" sz="1650" b="1" dirty="0"/>
          </a:p>
          <a:p>
            <a:r>
              <a:rPr lang="en-IN" sz="1650" b="1" dirty="0"/>
              <a:t>1. Cryptographic Primitives &amp; NIST Candidate Schemes</a:t>
            </a:r>
          </a:p>
          <a:p>
            <a:r>
              <a:rPr lang="en-IN" sz="1650" b="1" dirty="0"/>
              <a:t>PQC / KEM / DSA:</a:t>
            </a:r>
            <a:r>
              <a:rPr lang="en-IN" sz="1650" dirty="0"/>
              <a:t> Post-Quantum Cryptography / Key Encapsulation Mechanism / Digital Signature Algorithm.</a:t>
            </a:r>
          </a:p>
          <a:p>
            <a:r>
              <a:rPr lang="en-IN" sz="1650" b="1" dirty="0"/>
              <a:t>Mod-LWE / LWE:</a:t>
            </a:r>
            <a:r>
              <a:rPr lang="en-IN" sz="1650" dirty="0"/>
              <a:t> Module Learning With Errors / Learning With Errors </a:t>
            </a:r>
            <a:r>
              <a:rPr lang="en-IN" sz="1650" i="1" dirty="0"/>
              <a:t>(The foundational geometric lattice problems protecting Kyber and Dilithium)</a:t>
            </a:r>
            <a:r>
              <a:rPr lang="en-IN" sz="1650" dirty="0"/>
              <a:t>.</a:t>
            </a:r>
          </a:p>
          <a:p>
            <a:r>
              <a:rPr lang="en-IN" sz="1650" b="1" dirty="0"/>
              <a:t>Kyber / Saber / NTRU:</a:t>
            </a:r>
            <a:r>
              <a:rPr lang="en-IN" sz="1650" dirty="0"/>
              <a:t> Lattice-based Key Encapsulation Mechanisms evaluated for quantum-safe key exchange.</a:t>
            </a:r>
          </a:p>
          <a:p>
            <a:r>
              <a:rPr lang="en-IN" sz="1650" b="1" dirty="0"/>
              <a:t>Dilithium / Falcon / SPHINCS+:</a:t>
            </a:r>
            <a:r>
              <a:rPr lang="en-IN" sz="1650" dirty="0"/>
              <a:t> Lattice-based (Dilithium/Falcon) and Hash-based (SPHINCS+) digital signature algorithms evaluated for authentication.</a:t>
            </a:r>
          </a:p>
          <a:p>
            <a:r>
              <a:rPr lang="en-IN" sz="1650" b="1" dirty="0"/>
              <a:t>BIKE / HQC / SIKE:</a:t>
            </a:r>
            <a:r>
              <a:rPr lang="en-IN" sz="1650" dirty="0"/>
              <a:t> Code-based (BIKE/HQC) and Isogeny-based (SIKE) alternative cryptographic algorithms evaluated in </a:t>
            </a:r>
            <a:r>
              <a:rPr lang="en-IN" sz="1650" dirty="0" err="1"/>
              <a:t>thepaper</a:t>
            </a:r>
            <a:r>
              <a:rPr lang="en-IN" sz="1650" dirty="0"/>
              <a:t>.</a:t>
            </a:r>
          </a:p>
          <a:p>
            <a:r>
              <a:rPr lang="en-IN" sz="1650" b="1" dirty="0"/>
              <a:t>ECDHE / ECDSA:</a:t>
            </a:r>
            <a:r>
              <a:rPr lang="en-IN" sz="1650" dirty="0"/>
              <a:t> Elliptic Curve Diffie-Hellman Ephemeral / Elliptic Curve Digital Signature Algorithm </a:t>
            </a:r>
            <a:r>
              <a:rPr lang="en-IN" sz="1650" i="1" dirty="0"/>
              <a:t>(Legacy, quantum-vulnerable protocols)</a:t>
            </a:r>
            <a:r>
              <a:rPr lang="en-IN" sz="1650" dirty="0"/>
              <a:t>.</a:t>
            </a:r>
          </a:p>
          <a:p>
            <a:endParaRPr lang="en-IN" sz="1650" dirty="0"/>
          </a:p>
          <a:p>
            <a:r>
              <a:rPr lang="en-IN" sz="1650" b="1" dirty="0"/>
              <a:t>2. Hardware &amp; Benchmarking Architecture</a:t>
            </a:r>
          </a:p>
          <a:p>
            <a:r>
              <a:rPr lang="en-IN" sz="1650" b="1" dirty="0"/>
              <a:t>MCU / SoC:</a:t>
            </a:r>
            <a:r>
              <a:rPr lang="en-IN" sz="1650" dirty="0"/>
              <a:t> Microcontroller Unit / System on Chip.</a:t>
            </a:r>
          </a:p>
          <a:p>
            <a:r>
              <a:rPr lang="en-IN" sz="1650" b="1" dirty="0"/>
              <a:t>ARM Cortex-M4:</a:t>
            </a:r>
            <a:r>
              <a:rPr lang="en-IN" sz="1650" dirty="0"/>
              <a:t> The 32-bit RISC processor hardware architecture used as the constrained IoT edge client.</a:t>
            </a:r>
          </a:p>
          <a:p>
            <a:r>
              <a:rPr lang="en-IN" sz="1650" b="1" dirty="0"/>
              <a:t>PPK2 / DMM:</a:t>
            </a:r>
            <a:r>
              <a:rPr lang="en-IN" sz="1650" dirty="0"/>
              <a:t> Nordic Power Profiler Kit 2 / Digital Multimeter (Keithley DMM7510) </a:t>
            </a:r>
            <a:r>
              <a:rPr lang="en-IN" sz="1650" i="1" dirty="0"/>
              <a:t>(Physical energy profiling hardware)</a:t>
            </a:r>
            <a:r>
              <a:rPr lang="en-IN" sz="1650" dirty="0"/>
              <a:t>.</a:t>
            </a:r>
          </a:p>
          <a:p>
            <a:endParaRPr lang="en-IN" sz="1650" dirty="0"/>
          </a:p>
          <a:p>
            <a:r>
              <a:rPr lang="en-IN" sz="1650" b="1" dirty="0"/>
              <a:t>3. Network &amp; Library Protocol Stack</a:t>
            </a:r>
          </a:p>
          <a:p>
            <a:r>
              <a:rPr lang="en-IN" sz="1650" b="1" dirty="0"/>
              <a:t>MQTT:</a:t>
            </a:r>
            <a:r>
              <a:rPr lang="en-IN" sz="1650" dirty="0"/>
              <a:t> Message Queuing Telemetry Transport </a:t>
            </a:r>
            <a:r>
              <a:rPr lang="en-IN" sz="1650" i="1" dirty="0"/>
              <a:t>(Lightweight Application Layer Data Protocol)</a:t>
            </a:r>
            <a:r>
              <a:rPr lang="en-IN" sz="1650" dirty="0"/>
              <a:t>.</a:t>
            </a:r>
          </a:p>
          <a:p>
            <a:r>
              <a:rPr lang="en-IN" sz="1650" b="1" dirty="0"/>
              <a:t>TLS 1.2:</a:t>
            </a:r>
            <a:r>
              <a:rPr lang="en-IN" sz="1650" dirty="0"/>
              <a:t> Transport Layer Security protocol version 1.2 </a:t>
            </a:r>
            <a:r>
              <a:rPr lang="en-IN" sz="1650" i="1" dirty="0"/>
              <a:t>(Session Cryptographic Handshake Layer)</a:t>
            </a:r>
            <a:r>
              <a:rPr lang="en-IN" sz="1650" dirty="0"/>
              <a:t>.</a:t>
            </a:r>
          </a:p>
          <a:p>
            <a:r>
              <a:rPr lang="en-IN" sz="1650" b="1" dirty="0"/>
              <a:t>6LoWPAN:</a:t>
            </a:r>
            <a:r>
              <a:rPr lang="en-IN" sz="1650" dirty="0"/>
              <a:t> IPv6 over Low-Power Wireless Personal Area Networks </a:t>
            </a:r>
            <a:r>
              <a:rPr lang="en-IN" sz="1650" i="1" dirty="0"/>
              <a:t>(Network Adaptation Layer for packet fragmenting)</a:t>
            </a:r>
            <a:r>
              <a:rPr lang="en-IN" sz="1650" dirty="0"/>
              <a:t>.</a:t>
            </a:r>
          </a:p>
          <a:p>
            <a:r>
              <a:rPr lang="en-IN" sz="1650" b="1" dirty="0"/>
              <a:t>BLE / MTU:</a:t>
            </a:r>
            <a:r>
              <a:rPr lang="en-IN" sz="1650" dirty="0"/>
              <a:t> Bluetooth Low Energy / Maximum Transmission Unit </a:t>
            </a:r>
            <a:r>
              <a:rPr lang="en-IN" sz="1650" i="1" dirty="0"/>
              <a:t>(The physical radio link layer and its strict packet size limit)</a:t>
            </a:r>
            <a:r>
              <a:rPr lang="en-IN" sz="1650" dirty="0"/>
              <a:t>.</a:t>
            </a:r>
          </a:p>
          <a:p>
            <a:r>
              <a:rPr lang="en-IN" sz="1650" b="1" dirty="0"/>
              <a:t>mbedTLS / pqm4:</a:t>
            </a:r>
            <a:r>
              <a:rPr lang="en-IN" sz="1650" dirty="0"/>
              <a:t> Embedded-optimized TLS library integrated with speed-optimized assembly-level PQC math primitives.</a:t>
            </a:r>
          </a:p>
          <a:p>
            <a:r>
              <a:rPr lang="en-IN" sz="1650" b="1" dirty="0"/>
              <a:t>OQS-OpenSSL:</a:t>
            </a:r>
            <a:r>
              <a:rPr lang="en-IN" sz="1650" dirty="0"/>
              <a:t> Open Quantum Safe OpenSSL framework running on the backend Linux Server architecture.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4867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69535C-2E78-05B2-91F4-9B8BFEB45D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8A787C-D09B-7C76-95B2-C11B593841E1}"/>
              </a:ext>
            </a:extLst>
          </p:cNvPr>
          <p:cNvSpPr txBox="1"/>
          <p:nvPr/>
        </p:nvSpPr>
        <p:spPr>
          <a:xfrm>
            <a:off x="3144316" y="3013501"/>
            <a:ext cx="59033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9758DB-181D-7461-9A00-7420837C8FFC}"/>
              </a:ext>
            </a:extLst>
          </p:cNvPr>
          <p:cNvSpPr txBox="1"/>
          <p:nvPr/>
        </p:nvSpPr>
        <p:spPr>
          <a:xfrm>
            <a:off x="8675828" y="5544922"/>
            <a:ext cx="3964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Gonapa Shiva Teja</a:t>
            </a:r>
          </a:p>
          <a:p>
            <a:r>
              <a:rPr lang="en-GB" dirty="0"/>
              <a:t>Electrical And Computer Eng</a:t>
            </a:r>
          </a:p>
          <a:p>
            <a:r>
              <a:rPr lang="en-GB" dirty="0"/>
              <a:t>Shiv Nadar University Delhi NCR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891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1285</Words>
  <Application>Microsoft Office PowerPoint</Application>
  <PresentationFormat>Widescreen</PresentationFormat>
  <Paragraphs>110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Gonapa Shiva Teja</dc:creator>
  <cp:lastModifiedBy>Gonapa Shiva Teja</cp:lastModifiedBy>
  <cp:revision>2</cp:revision>
  <dcterms:created xsi:type="dcterms:W3CDTF">2026-06-04T12:21:02Z</dcterms:created>
  <dcterms:modified xsi:type="dcterms:W3CDTF">2026-06-05T15:07:36Z</dcterms:modified>
</cp:coreProperties>
</file>